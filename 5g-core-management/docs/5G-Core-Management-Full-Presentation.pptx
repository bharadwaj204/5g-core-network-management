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4F73C-D714-45C6-B8D8-B2A4CCFB33C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A2AAB-5C4E-4CE3-B546-78581C77F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3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a one-line project elevator pitch and state objectives briefly.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8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relevance to telecom operators and why hands-on labs are important.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54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the educational gap and project goal to fill it.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8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what you planned to build and what success looks like.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775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Quick one-slide summary before diving into architecture and implementation.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2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describe each network function and its role.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03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diagram shows the two-layer architecture: the 5G core plane and the management plane. NETCONF/RESTCONF talk to control/config; SNMP collects telemetry.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638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Table maps each layer to the tools used in the prototype.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536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schema design and how YANG ensures consistent data across NETCONF and RESTCONF.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392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a short YANG snippet and explain fields.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98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how NETCONF maps YANG data tree to configuration operations.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62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ncclient usage and show sample get-config.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92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parity between NETCONF and RESTCONF and give endpoint examples.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657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polling vs agent model and example OIDs used (custom MIBs).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917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dashboard screenshots during demo and explain panels.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21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where to find code, configs, YANG modules, dashboard, and tests.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96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step-by-step demo commands and expected output.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63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real logs and screenshots during live demo for evidence.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32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each challenge briefly and how you overcame or mitigated it.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405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outcomes and educational value.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451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List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045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Include links in docs folder for further reading.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293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Invite questions and be prepared for viva topics: security, scaling, model design.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2AAB-5C4E-4CE3-B546-78581C77F63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262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1F2F-1F2E-C625-AD5B-BF27161C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89D11-2445-834C-03AB-6DD45F141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7162-BE92-9817-EFDC-975D08F0F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4C98-0E0E-2CB6-018E-6808DBD4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A4D5D-0582-7563-D143-960749D8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4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07E7-4AB9-1BEF-5562-AC8070C4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0C63D-FF13-0B75-C43E-D08712C6A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07B7B-7E54-7E5F-F0EE-041D4A88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60196-893F-BDB8-6666-C47A3A63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79B4-3B2F-1D13-9420-E5046B02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3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BF0D-FC7B-4DDE-E0DB-FDBCD7D0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4D602-24E3-591A-EC86-5D878288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0280-EF55-F954-95F7-966E8B9C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99B00-80A1-6AA1-74BB-86F13599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32A3-C45F-5F58-A267-126000A5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7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D7A0-7BC0-79AD-6EB4-C86DF401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CDC5-9773-1FFC-7B07-CEF04A368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21932-3FEA-54A1-F7C0-EA87F9D8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141B4-196E-F448-DF27-4BB0F7BA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CAA57-62C2-1527-4C7E-41599BDC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426FE-4C95-94F0-6799-A97EF400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77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279D-8EC8-5DCB-CB29-3DFDCAB5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EC93E-3CCC-3784-CF24-0FAA8A68D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456C0-6ED7-56B4-1046-A9F33935F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64B8C-CDC5-1067-A55D-348BEB260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79DE5-9394-432F-724E-9163869A3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7E33E-C6E3-BFC5-2269-C9B44CB3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FA2EA-F176-5091-4136-67676046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0EBDA-583B-0D72-F3BF-8CDBEED5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29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1EA9-04EC-39E4-A5D0-2691A35F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EBDAD-A67F-49BB-AA56-F868411E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D4BB3-E9E6-40B7-BD93-70B455F2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9B490-050A-A758-CA8B-0B7305A5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87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EC82B-C87D-200F-FCA0-D899C12C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2308F-1AA9-C582-097B-0BE0D82E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8BF7D-EE5A-B731-DDE7-610136CB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3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531B-EA25-3F32-D23A-EFD2B56B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CBCD-D6CB-66CC-BDDE-29049C6CF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F4036-CDFB-6B59-AEDB-4AFD195EB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157D-C383-8532-D268-EBDF99A2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01F11-03EE-2608-7634-8545CB60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4A5-C21B-8E21-D4C7-0B5A7695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0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8037-39F2-3DEE-27F3-34C2D8C1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6DCFE-2678-9982-8D08-49FACFC70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2AEB4-62B7-CD32-A950-2B0D73762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EF59D-F64C-1DD4-A0BB-33F84AA0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18C2C-F9EF-00C2-E149-CCD03DA3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54A70-A868-0E03-5E47-A60C6EEE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5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4804-1978-F838-E43B-5D79BC02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D2B0A-FFAE-C2F4-A1B0-C49CAAE9B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D3838-81FC-D290-0601-BB1A0D15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16AB8-88BE-0C09-8BC5-9468B100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B2274-31A6-7CDD-7E0B-CCBEA8AC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2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4C2D5-85D5-5900-6080-76298D0F7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D11C9-70F7-90A1-FBB2-4AE80123B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B06A-FA00-6BFB-75CC-0A9E59BC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EB1A5-6D4E-79F6-2C03-A21CBF2D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0DFB6-387A-A30F-F5E4-C4833BE3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86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24C5-6222-55DC-65C0-1D456205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F470F-A98D-C5A1-272E-9D5694560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1AEF6-3E0E-87FB-2206-6A04F3EB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A39A2-354D-9D75-3193-7BAE766B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9E71-0491-1D8B-3BC1-B68DF8C8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06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3399E-BB6A-58B9-7565-BA347825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4480D-7714-AAA4-58E0-493FEB52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B66F-E42E-47A6-9D87-BF4F51921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1D305-D9A6-4D64-8823-E2B265B87F5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BD4CF-1189-39A7-F6CC-C8C6028E3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FCBB8-096E-DEDD-FDF7-C6F78FA0C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1DF1B-53E6-4FAC-B17D-0F423402E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9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4F82-D5B0-FEC3-9B2C-960CB91F9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End-to-End 5G Core Management Prototype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B1741-FD8A-2008-EF60-8844EE182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Your Name</a:t>
            </a:r>
          </a:p>
          <a:p>
            <a:r>
              <a:rPr lang="en-IN"/>
              <a:t>Institution / Date</a:t>
            </a:r>
          </a:p>
        </p:txBody>
      </p:sp>
    </p:spTree>
    <p:extLst>
      <p:ext uri="{BB962C8B-B14F-4D97-AF65-F5344CB8AC3E}">
        <p14:creationId xmlns:p14="http://schemas.microsoft.com/office/powerpoint/2010/main" val="812641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7E21-E147-4CCF-5CD8-1EEA445B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— Why 5G Core Management Matters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FF671-FB92-600E-CB21-45611EDD4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5G requires automation, programmability, and observability.</a:t>
            </a:r>
          </a:p>
          <a:p>
            <a:r>
              <a:rPr lang="en-US"/>
              <a:t>• Real telecom equipment is costly and complex to operate manually.</a:t>
            </a:r>
          </a:p>
          <a:p>
            <a:r>
              <a:rPr lang="en-US"/>
              <a:t>• Skills in NETCONF/RESTCONF/SNMP + YANG are in high demand in industry.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30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BA57-8112-9EDB-8B60-745F55AC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50647-ABB2-7E47-3FCD-C98965BAE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Students have theory but little practical exposure to 5G core management.</a:t>
            </a:r>
          </a:p>
          <a:p>
            <a:r>
              <a:rPr lang="en-US"/>
              <a:t>• Commercial systems are expensive and closed.</a:t>
            </a:r>
          </a:p>
          <a:p>
            <a:r>
              <a:rPr lang="en-US"/>
              <a:t>• Need an open, lightweight educational platform to teach management plane concepts.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61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6615-2944-F564-597F-7CFB8DAA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486FD-E92A-02F6-6877-D877CC65D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Deploy Open5GS (open-source 5G core).</a:t>
            </a:r>
          </a:p>
          <a:p>
            <a:r>
              <a:rPr lang="en-US"/>
              <a:t>• Implement management plane using NETCONF, RESTCONF, SNMP and YANG.</a:t>
            </a:r>
          </a:p>
          <a:p>
            <a:r>
              <a:rPr lang="en-US"/>
              <a:t>• Provide dashboards, tests, and reproducible scripts for labs.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566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088E-1007-F04F-E0CB-01AD80AF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at a Glance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7F4FA-6541-E8EA-9F1C-95D6DCAC5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? Open5GS-based 5G Core</a:t>
            </a:r>
          </a:p>
          <a:p>
            <a:r>
              <a:rPr lang="en-IN"/>
              <a:t>? YANG models for subscribers/sessions/QoS</a:t>
            </a:r>
          </a:p>
          <a:p>
            <a:r>
              <a:rPr lang="en-IN"/>
              <a:t>? NETCONF server (ncclient)</a:t>
            </a:r>
          </a:p>
          <a:p>
            <a:r>
              <a:rPr lang="en-IN"/>
              <a:t>? RESTCONF API (Flask/FastAPI)</a:t>
            </a:r>
          </a:p>
          <a:p>
            <a:r>
              <a:rPr lang="en-IN"/>
              <a:t>? SNMP monitoring (PySNMP) and Prometheus/Grafana integration</a:t>
            </a:r>
          </a:p>
        </p:txBody>
      </p:sp>
    </p:spTree>
    <p:extLst>
      <p:ext uri="{BB962C8B-B14F-4D97-AF65-F5344CB8AC3E}">
        <p14:creationId xmlns:p14="http://schemas.microsoft.com/office/powerpoint/2010/main" val="4150299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98E0-E1BF-EDC4-A88F-C072318A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5G Core Architecture (conceptual)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ECD39-7C90-C648-78AE-E616CD16F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AMF – Access and Mobility Management Function</a:t>
            </a:r>
          </a:p>
          <a:p>
            <a:r>
              <a:rPr lang="en-IN"/>
              <a:t>• SMF – Session Management Function</a:t>
            </a:r>
          </a:p>
          <a:p>
            <a:r>
              <a:rPr lang="en-IN"/>
              <a:t>• UPF – User Plane Function</a:t>
            </a:r>
          </a:p>
          <a:p>
            <a:r>
              <a:rPr lang="en-IN"/>
              <a:t>• NRF – Network Repository Function</a:t>
            </a:r>
          </a:p>
          <a:p>
            <a:r>
              <a:rPr lang="en-IN"/>
              <a:t>• UDM/AUSF/UDR – Subscriber Data / Auth</a:t>
            </a:r>
          </a:p>
        </p:txBody>
      </p:sp>
    </p:spTree>
    <p:extLst>
      <p:ext uri="{BB962C8B-B14F-4D97-AF65-F5344CB8AC3E}">
        <p14:creationId xmlns:p14="http://schemas.microsoft.com/office/powerpoint/2010/main" val="2397958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737EE-BD0A-166E-05C7-1A0D681334C2}"/>
              </a:ext>
            </a:extLst>
          </p:cNvPr>
          <p:cNvSpPr txBox="1"/>
          <p:nvPr/>
        </p:nvSpPr>
        <p:spPr>
          <a:xfrm>
            <a:off x="254000" y="1270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System Architecture — Core Plane + Management Plane</a:t>
            </a:r>
            <a:endParaRPr lang="en-IN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630D8-7DF7-5BB4-D22B-5CDAF57BB36D}"/>
              </a:ext>
            </a:extLst>
          </p:cNvPr>
          <p:cNvSpPr/>
          <p:nvPr/>
        </p:nvSpPr>
        <p:spPr>
          <a:xfrm>
            <a:off x="508000" y="1016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AMF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3B3861-62EF-56C9-0FD7-436FC1636E0E}"/>
              </a:ext>
            </a:extLst>
          </p:cNvPr>
          <p:cNvSpPr/>
          <p:nvPr/>
        </p:nvSpPr>
        <p:spPr>
          <a:xfrm>
            <a:off x="2794000" y="1016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SMF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50AAE-2952-AA13-4685-E7F7AF6573F1}"/>
              </a:ext>
            </a:extLst>
          </p:cNvPr>
          <p:cNvSpPr/>
          <p:nvPr/>
        </p:nvSpPr>
        <p:spPr>
          <a:xfrm>
            <a:off x="5080000" y="1016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UPF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F51727-D4AF-9696-F75D-C7204F8487EC}"/>
              </a:ext>
            </a:extLst>
          </p:cNvPr>
          <p:cNvSpPr/>
          <p:nvPr/>
        </p:nvSpPr>
        <p:spPr>
          <a:xfrm>
            <a:off x="508000" y="22860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NETCONF Server</a:t>
            </a:r>
          </a:p>
          <a:p>
            <a:pPr algn="ctr"/>
            <a:r>
              <a:rPr lang="en-IN"/>
              <a:t>(YANG model driven)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223618-DB56-C137-CF00-39EBC12F9E42}"/>
              </a:ext>
            </a:extLst>
          </p:cNvPr>
          <p:cNvSpPr/>
          <p:nvPr/>
        </p:nvSpPr>
        <p:spPr>
          <a:xfrm>
            <a:off x="3048000" y="22860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RESTCONF API</a:t>
            </a:r>
          </a:p>
          <a:p>
            <a:pPr algn="ctr"/>
            <a:r>
              <a:rPr lang="en-IN"/>
              <a:t>(HTTP/JSON)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A536A6-D457-D441-492C-416056896935}"/>
              </a:ext>
            </a:extLst>
          </p:cNvPr>
          <p:cNvSpPr/>
          <p:nvPr/>
        </p:nvSpPr>
        <p:spPr>
          <a:xfrm>
            <a:off x="5588000" y="22860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SNMP Monitor</a:t>
            </a:r>
          </a:p>
          <a:p>
            <a:pPr algn="ctr"/>
            <a:r>
              <a:rPr lang="en-IN"/>
              <a:t>(metrics export)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7CFFB3-7211-28D3-9F11-8324C9999D18}"/>
              </a:ext>
            </a:extLst>
          </p:cNvPr>
          <p:cNvCxnSpPr/>
          <p:nvPr/>
        </p:nvCxnSpPr>
        <p:spPr>
          <a:xfrm flipV="1">
            <a:off x="2032000" y="1397000"/>
            <a:ext cx="0" cy="127000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A026CA-283B-8AE5-BE4C-A6022D633DC0}"/>
              </a:ext>
            </a:extLst>
          </p:cNvPr>
          <p:cNvCxnSpPr/>
          <p:nvPr/>
        </p:nvCxnSpPr>
        <p:spPr>
          <a:xfrm flipV="1">
            <a:off x="4572000" y="1397000"/>
            <a:ext cx="0" cy="127000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013A3-7AC8-0EA2-2193-54ECAE4D8430}"/>
              </a:ext>
            </a:extLst>
          </p:cNvPr>
          <p:cNvCxnSpPr/>
          <p:nvPr/>
        </p:nvCxnSpPr>
        <p:spPr>
          <a:xfrm flipV="1">
            <a:off x="7112000" y="1397000"/>
            <a:ext cx="0" cy="127000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811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D1E0-5A02-D38B-A41E-6B6F9B69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DECF0-EFF5-C3B6-77F7-3916A7691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 table for mapping of layers to tools.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BFCA71-3E0A-0CA7-F237-E6924D21E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441811"/>
              </p:ext>
            </p:extLst>
          </p:nvPr>
        </p:nvGraphicFramePr>
        <p:xfrm>
          <a:off x="508000" y="1270000"/>
          <a:ext cx="81280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252980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2593436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IN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Tools/Technologies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3555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/>
                        <a:t>5G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Open5GS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2735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/>
                        <a:t>Management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NETCONF(ncclient), RESTCONF(Flask/FastAPI), YANG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8323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/>
                        <a:t>Monitoring /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SNMP(PySNMP), Prometheus, Grafana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71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759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45E0-3E49-513E-9C2B-7366C90B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YANG Models Created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6B862-B257-F061-31C1-F519908C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subscribers.yang</a:t>
            </a:r>
          </a:p>
          <a:p>
            <a:r>
              <a:rPr lang="en-IN"/>
              <a:t>• sessions.yang</a:t>
            </a:r>
          </a:p>
          <a:p>
            <a:r>
              <a:rPr lang="en-IN"/>
              <a:t>• qos-profiles.yang</a:t>
            </a:r>
          </a:p>
          <a:p>
            <a:r>
              <a:rPr lang="en-IN"/>
              <a:t>• network-functions.yang</a:t>
            </a:r>
          </a:p>
        </p:txBody>
      </p:sp>
    </p:spTree>
    <p:extLst>
      <p:ext uri="{BB962C8B-B14F-4D97-AF65-F5344CB8AC3E}">
        <p14:creationId xmlns:p14="http://schemas.microsoft.com/office/powerpoint/2010/main" val="3673332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37C3-151F-29F5-E045-0FC290E9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YANG Example Snippet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B967B-1536-388D-77C1-CC56C1BD4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200">
                <a:latin typeface="Courier New" panose="02070309020205020404" pitchFamily="49" charset="0"/>
              </a:rPr>
              <a:t>module subscribers {</a:t>
            </a:r>
          </a:p>
          <a:p>
            <a:r>
              <a:rPr lang="en-IN" sz="1200">
                <a:latin typeface="Courier New" panose="02070309020205020404" pitchFamily="49" charset="0"/>
              </a:rPr>
              <a:t>  namespace "urn:example:subscribers";</a:t>
            </a:r>
          </a:p>
          <a:p>
            <a:r>
              <a:rPr lang="en-IN" sz="1200">
                <a:latin typeface="Courier New" panose="02070309020205020404" pitchFamily="49" charset="0"/>
              </a:rPr>
              <a:t>  prefix sub;</a:t>
            </a:r>
          </a:p>
          <a:p>
            <a:r>
              <a:rPr lang="en-IN" sz="1200">
                <a:latin typeface="Courier New" panose="02070309020205020404" pitchFamily="49" charset="0"/>
              </a:rPr>
              <a:t>  revision 2025-01-01 { description "Initial"; }</a:t>
            </a:r>
          </a:p>
          <a:p>
            <a:r>
              <a:rPr lang="en-IN" sz="1200">
                <a:latin typeface="Courier New" panose="02070309020205020404" pitchFamily="49" charset="0"/>
              </a:rPr>
              <a:t>  container subscribers {</a:t>
            </a:r>
          </a:p>
          <a:p>
            <a:r>
              <a:rPr lang="en-IN" sz="1200">
                <a:latin typeface="Courier New" panose="02070309020205020404" pitchFamily="49" charset="0"/>
              </a:rPr>
              <a:t>    list subscriber { key "imsi"; leaf imsi { type string; } leaf msisdn { type string; } }</a:t>
            </a:r>
          </a:p>
          <a:p>
            <a:r>
              <a:rPr lang="en-IN" sz="1200">
                <a:latin typeface="Courier New" panose="02070309020205020404" pitchFamily="49" charset="0"/>
              </a:rPr>
              <a:t>  }</a:t>
            </a:r>
          </a:p>
          <a:p>
            <a:r>
              <a:rPr lang="en-IN" sz="120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1606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1233-E6B2-5C47-EF38-BDD3E021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NETCONF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361E7-6A8C-2C3D-4046-43B98E9E9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Python (ncclient) based NETCONF server</a:t>
            </a:r>
          </a:p>
          <a:p>
            <a:r>
              <a:rPr lang="en-IN"/>
              <a:t>• Supports get-config, edit-config, get</a:t>
            </a:r>
          </a:p>
          <a:p>
            <a:r>
              <a:rPr lang="en-IN"/>
              <a:t>• Runs on port 830 over SSH (dev mode possible)</a:t>
            </a:r>
          </a:p>
        </p:txBody>
      </p:sp>
    </p:spTree>
    <p:extLst>
      <p:ext uri="{BB962C8B-B14F-4D97-AF65-F5344CB8AC3E}">
        <p14:creationId xmlns:p14="http://schemas.microsoft.com/office/powerpoint/2010/main" val="2668911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6C6A-182C-AA6F-390C-F82C08DF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NETCONF Example (ncclient)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0BA-5E78-CFA7-F2CE-FF342DB9A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100">
                <a:latin typeface="Courier New" panose="02070309020205020404" pitchFamily="49" charset="0"/>
              </a:rPr>
              <a:t>from ncclient import manager</a:t>
            </a:r>
          </a:p>
          <a:p>
            <a:r>
              <a:rPr lang="en-IN" sz="1100">
                <a:latin typeface="Courier New" panose="02070309020205020404" pitchFamily="49" charset="0"/>
              </a:rPr>
              <a:t>m = manager.connect(host='127.0.0.1', port=830, username='admin', password='admin', hostkey_verify=False)</a:t>
            </a:r>
          </a:p>
          <a:p>
            <a:r>
              <a:rPr lang="en-IN" sz="1100">
                <a:latin typeface="Courier New" panose="02070309020205020404" pitchFamily="49" charset="0"/>
              </a:rPr>
              <a:t>print(m.get_config(source='running').xml)</a:t>
            </a:r>
          </a:p>
        </p:txBody>
      </p:sp>
    </p:spTree>
    <p:extLst>
      <p:ext uri="{BB962C8B-B14F-4D97-AF65-F5344CB8AC3E}">
        <p14:creationId xmlns:p14="http://schemas.microsoft.com/office/powerpoint/2010/main" val="4244100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13AC-AE6B-456A-EC7D-EA651627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RESTCONF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FFCD8-BE0C-5EC4-9200-530F0FA1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HTTP/JSON interface (Flask/FastAPI)</a:t>
            </a:r>
          </a:p>
          <a:p>
            <a:r>
              <a:rPr lang="en-IN"/>
              <a:t>• Mirrors YANG data tree for compatibility</a:t>
            </a:r>
          </a:p>
          <a:p>
            <a:r>
              <a:rPr lang="en-IN"/>
              <a:t>• Endpoints example: /restconf/data/subscribers</a:t>
            </a:r>
          </a:p>
        </p:txBody>
      </p:sp>
    </p:spTree>
    <p:extLst>
      <p:ext uri="{BB962C8B-B14F-4D97-AF65-F5344CB8AC3E}">
        <p14:creationId xmlns:p14="http://schemas.microsoft.com/office/powerpoint/2010/main" val="1370319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99CD-7EF5-7FF2-EFF2-744A07E1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SNMP Monitoring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A258-F7B5-117E-3FBC-1431725AA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Implemented with PySNMP</a:t>
            </a:r>
          </a:p>
          <a:p>
            <a:r>
              <a:rPr lang="en-US"/>
              <a:t>• Collects metrics: active sessions, CPU, mem, throughput</a:t>
            </a:r>
          </a:p>
          <a:p>
            <a:r>
              <a:rPr lang="en-US"/>
              <a:t>• Exports for Prometheus (optional) and visualizes in Grafana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5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3EC9-4EDF-944C-B467-72DDEF4C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Dashboard &amp;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E0A64-7A88-0AD8-CD0E-FDA7E0E60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Node.js web dashboard (Socket.IO) for real-time updates</a:t>
            </a:r>
          </a:p>
          <a:p>
            <a:r>
              <a:rPr lang="en-IN"/>
              <a:t>• Grafana integration for production-like dashboards</a:t>
            </a:r>
          </a:p>
          <a:p>
            <a:r>
              <a:rPr lang="en-IN"/>
              <a:t>• Panels: subscribers, sessions, throughput, alerts</a:t>
            </a:r>
          </a:p>
        </p:txBody>
      </p:sp>
    </p:spTree>
    <p:extLst>
      <p:ext uri="{BB962C8B-B14F-4D97-AF65-F5344CB8AC3E}">
        <p14:creationId xmlns:p14="http://schemas.microsoft.com/office/powerpoint/2010/main" val="911098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1CF3-CB8F-48EF-5946-7C9EFB71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Folder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71E13-9635-AAC8-3B90-503CBB2B3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/>
              <a:t>5g-core-management/</a:t>
            </a:r>
          </a:p>
          <a:p>
            <a:r>
              <a:rPr lang="en-IN"/>
              <a:t>+-- open5gs-setup/</a:t>
            </a:r>
          </a:p>
          <a:p>
            <a:r>
              <a:rPr lang="en-IN"/>
              <a:t>+-- management-plane/</a:t>
            </a:r>
          </a:p>
          <a:p>
            <a:r>
              <a:rPr lang="en-IN"/>
              <a:t>¦   +-- netconf-server/</a:t>
            </a:r>
          </a:p>
          <a:p>
            <a:r>
              <a:rPr lang="en-IN"/>
              <a:t>¦   +-- restconf-api/</a:t>
            </a:r>
          </a:p>
          <a:p>
            <a:r>
              <a:rPr lang="en-IN"/>
              <a:t>¦   +-- snmp-monitor/</a:t>
            </a:r>
          </a:p>
          <a:p>
            <a:r>
              <a:rPr lang="en-IN"/>
              <a:t>¦   +-- yang-models/</a:t>
            </a:r>
          </a:p>
          <a:p>
            <a:r>
              <a:rPr lang="en-IN"/>
              <a:t>+-- dashboard/</a:t>
            </a:r>
          </a:p>
          <a:p>
            <a:r>
              <a:rPr lang="en-IN"/>
              <a:t>+-- docs/</a:t>
            </a:r>
          </a:p>
          <a:p>
            <a:r>
              <a:rPr lang="en-IN"/>
              <a:t>+-- tests/</a:t>
            </a:r>
          </a:p>
        </p:txBody>
      </p:sp>
    </p:spTree>
    <p:extLst>
      <p:ext uri="{BB962C8B-B14F-4D97-AF65-F5344CB8AC3E}">
        <p14:creationId xmlns:p14="http://schemas.microsoft.com/office/powerpoint/2010/main" val="4128024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DA8B-F3FE-BAF2-69A0-23F42C7A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Flow (what to show)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D61DA-B951-8833-D14A-E8B4E181B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1) Start NETCONF server: python netconf_server.py</a:t>
            </a:r>
          </a:p>
          <a:p>
            <a:r>
              <a:rPr lang="en-IN"/>
              <a:t>2) NETCONF get-config demo script: scripts/get_subscribers.py</a:t>
            </a:r>
          </a:p>
          <a:p>
            <a:r>
              <a:rPr lang="en-IN"/>
              <a:t>3) RESTCONF GET: curl http://localhost:830/restconf/data/subscribers</a:t>
            </a:r>
          </a:p>
          <a:p>
            <a:r>
              <a:rPr lang="en-IN"/>
              <a:t>4) SNMP: snmpwalk -v2c -c public localhost .1.3.6</a:t>
            </a:r>
          </a:p>
          <a:p>
            <a:r>
              <a:rPr lang="en-IN"/>
              <a:t>5) Open dashboard at http://localhost:3000 and show live metrics</a:t>
            </a:r>
          </a:p>
        </p:txBody>
      </p:sp>
    </p:spTree>
    <p:extLst>
      <p:ext uri="{BB962C8B-B14F-4D97-AF65-F5344CB8AC3E}">
        <p14:creationId xmlns:p14="http://schemas.microsoft.com/office/powerpoint/2010/main" val="1340147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30C5-CE85-D113-75E4-6C408ACA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5D1F4-9527-0F59-F470-019962361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? Open5GS deployed and running (AMF/SMF/UPF etc.)</a:t>
            </a:r>
          </a:p>
          <a:p>
            <a:r>
              <a:rPr lang="en-IN"/>
              <a:t>? NETCONF &amp; RESTCONF endpoints return consistent state</a:t>
            </a:r>
          </a:p>
          <a:p>
            <a:r>
              <a:rPr lang="en-IN"/>
              <a:t>? SNMP metrics collected and exported</a:t>
            </a:r>
          </a:p>
          <a:p>
            <a:r>
              <a:rPr lang="en-IN"/>
              <a:t>? Dashboard displays real-time subscriber/session metrics</a:t>
            </a:r>
          </a:p>
        </p:txBody>
      </p:sp>
    </p:spTree>
    <p:extLst>
      <p:ext uri="{BB962C8B-B14F-4D97-AF65-F5344CB8AC3E}">
        <p14:creationId xmlns:p14="http://schemas.microsoft.com/office/powerpoint/2010/main" val="365988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09C8-D68A-FB5E-CE4B-2BEA8C3F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ECEF5-77E1-BEE6-B3F9-68A40AEBA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Tuning Open5GS configs &amp; networking</a:t>
            </a:r>
          </a:p>
          <a:p>
            <a:r>
              <a:rPr lang="en-IN"/>
              <a:t>• YANG model validation and revisions</a:t>
            </a:r>
          </a:p>
          <a:p>
            <a:r>
              <a:rPr lang="en-IN"/>
              <a:t>• NETCONF XML formatting traps</a:t>
            </a:r>
          </a:p>
          <a:p>
            <a:r>
              <a:rPr lang="en-IN"/>
              <a:t>• Designing consistent state between NETCONF and RESTCONF</a:t>
            </a:r>
          </a:p>
          <a:p>
            <a:r>
              <a:rPr lang="en-IN"/>
              <a:t>• Mapping SNMP OIDs to metrics</a:t>
            </a:r>
          </a:p>
        </p:txBody>
      </p:sp>
    </p:spTree>
    <p:extLst>
      <p:ext uri="{BB962C8B-B14F-4D97-AF65-F5344CB8AC3E}">
        <p14:creationId xmlns:p14="http://schemas.microsoft.com/office/powerpoint/2010/main" val="2935911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272A-5D2E-A53A-61AF-F0053E54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CCC2E-A8E6-FD27-8203-AB41B1351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Built an educational, end-to-end 5G management system</a:t>
            </a:r>
          </a:p>
          <a:p>
            <a:r>
              <a:rPr lang="en-US"/>
              <a:t>• Used industry protocols and YANG models</a:t>
            </a:r>
          </a:p>
          <a:p>
            <a:r>
              <a:rPr lang="en-US"/>
              <a:t>• System is modular, extensible and ready for labs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005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1741-747C-4515-6446-38655610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27BD1-25E8-AC29-2E2C-7145DD50F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Integrate gNB + UE for full radio-to-core tests</a:t>
            </a:r>
          </a:p>
          <a:p>
            <a:r>
              <a:rPr lang="en-US"/>
              <a:t>• Add authentication / TLS for RESTCONF and secure NETCONF</a:t>
            </a:r>
          </a:p>
          <a:p>
            <a:r>
              <a:rPr lang="en-US"/>
              <a:t>• Improve SNMP with SNMPv3 and full MIB support</a:t>
            </a:r>
          </a:p>
          <a:p>
            <a:r>
              <a:rPr lang="en-US"/>
              <a:t>• Containerize with Kubernetes for scaling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13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398F-5EC4-041B-6295-BC25F5FB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 &amp;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9BCEE-CB14-1F9A-075F-9F20AAAB2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RFC 6241 — NETCONF</a:t>
            </a:r>
          </a:p>
          <a:p>
            <a:r>
              <a:rPr lang="en-IN"/>
              <a:t>• RFC 8040 — RESTCONF</a:t>
            </a:r>
          </a:p>
          <a:p>
            <a:r>
              <a:rPr lang="en-IN"/>
              <a:t>• YANG (RFC 7950) documentation</a:t>
            </a:r>
          </a:p>
          <a:p>
            <a:r>
              <a:rPr lang="en-IN"/>
              <a:t>• Open5GS docs (open-source)</a:t>
            </a:r>
          </a:p>
        </p:txBody>
      </p:sp>
    </p:spTree>
    <p:extLst>
      <p:ext uri="{BB962C8B-B14F-4D97-AF65-F5344CB8AC3E}">
        <p14:creationId xmlns:p14="http://schemas.microsoft.com/office/powerpoint/2010/main" val="74788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1425-C8E3-A0A4-7C4C-747B39CA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CE046-819A-4366-2BEB-397B7FF4F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92235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1097</Words>
  <Application>Microsoft Office PowerPoint</Application>
  <PresentationFormat>Widescreen</PresentationFormat>
  <Paragraphs>171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End-to-End 5G Core Management Prototype</vt:lpstr>
      <vt:lpstr>Motivation — Why 5G Core Management Matters</vt:lpstr>
      <vt:lpstr>Problem Statement</vt:lpstr>
      <vt:lpstr>Project Objectives</vt:lpstr>
      <vt:lpstr>Project at a Glance</vt:lpstr>
      <vt:lpstr>5G Core Architecture (conceptual)</vt:lpstr>
      <vt:lpstr>PowerPoint Presentation</vt:lpstr>
      <vt:lpstr>Technology Stack</vt:lpstr>
      <vt:lpstr>YANG Models Created</vt:lpstr>
      <vt:lpstr>YANG Example Snippet</vt:lpstr>
      <vt:lpstr>NETCONF Implementation</vt:lpstr>
      <vt:lpstr>NETCONF Example (ncclient)</vt:lpstr>
      <vt:lpstr>RESTCONF Implementation</vt:lpstr>
      <vt:lpstr>SNMP Monitoring</vt:lpstr>
      <vt:lpstr>Dashboard &amp; Visualization</vt:lpstr>
      <vt:lpstr>Project Folder Structure</vt:lpstr>
      <vt:lpstr>Demo Flow (what to show)</vt:lpstr>
      <vt:lpstr>Results</vt:lpstr>
      <vt:lpstr>Challenges Faced</vt:lpstr>
      <vt:lpstr>Conclusion</vt:lpstr>
      <vt:lpstr>Future Enhancements</vt:lpstr>
      <vt:lpstr>References &amp; Standards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bharadwaj vaniganipalli</dc:creator>
  <cp:lastModifiedBy>bharadwaj vaniganipalli</cp:lastModifiedBy>
  <cp:revision>2</cp:revision>
  <dcterms:created xsi:type="dcterms:W3CDTF">2025-11-18T18:18:41Z</dcterms:created>
  <dcterms:modified xsi:type="dcterms:W3CDTF">2025-11-18T18:28:11Z</dcterms:modified>
</cp:coreProperties>
</file>